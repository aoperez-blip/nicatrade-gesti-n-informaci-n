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74d6c39ee4501" /><Relationship Type="http://schemas.openxmlformats.org/officeDocument/2006/relationships/extended-properties" Target="/docProps/app.xml" Id="R6b091e9715ae464d" /><Relationship Type="http://schemas.openxmlformats.org/officeDocument/2006/relationships/officeDocument" Target="/ppt/presentation.xml" Id="Ra7df6773b994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c8d50e4225438a"/>
  </p:sldMasterIdLst>
  <p:notesMasterIdLst>
    <p:notesMasterId xmlns:r="http://schemas.openxmlformats.org/officeDocument/2006/relationships" r:id="R749f99712b3b4762"/>
  </p:notesMasterIdLst>
  <p:sldIdLst>
    <p:sldId xmlns:r="http://schemas.openxmlformats.org/officeDocument/2006/relationships" id="256" r:id="R689b3c74c3464997"/>
    <p:sldId xmlns:r="http://schemas.openxmlformats.org/officeDocument/2006/relationships" id="257" r:id="Rdd9e3fe0455b4fea"/>
    <p:sldId xmlns:r="http://schemas.openxmlformats.org/officeDocument/2006/relationships" id="258" r:id="R187f3898cbc44331"/>
    <p:sldId xmlns:r="http://schemas.openxmlformats.org/officeDocument/2006/relationships" id="259" r:id="Reecb0349770e4823"/>
    <p:sldId xmlns:r="http://schemas.openxmlformats.org/officeDocument/2006/relationships" id="260" r:id="R3d9b07441a424e30"/>
    <p:sldId xmlns:r="http://schemas.openxmlformats.org/officeDocument/2006/relationships" id="261" r:id="R717ad82caaac4774"/>
    <p:sldId xmlns:r="http://schemas.openxmlformats.org/officeDocument/2006/relationships" id="262" r:id="R23b290a298e44545"/>
    <p:sldId xmlns:r="http://schemas.openxmlformats.org/officeDocument/2006/relationships" id="263" r:id="Re966455075f846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1fcc1592e7489e" /><Relationship Type="http://schemas.openxmlformats.org/officeDocument/2006/relationships/slideMaster" Target="/ppt/slideMasters/slideMaster1.xml" Id="R7fc8d50e4225438a" /><Relationship Type="http://schemas.openxmlformats.org/officeDocument/2006/relationships/notesMaster" Target="/ppt/notesMasters/notesMaster1.xml" Id="R749f99712b3b4762" /><Relationship Type="http://schemas.openxmlformats.org/officeDocument/2006/relationships/presProps" Target="/ppt/presProps.xml" Id="R30ec2cdd041f42af" /><Relationship Type="http://schemas.openxmlformats.org/officeDocument/2006/relationships/tableStyles" Target="/ppt/tableStyles.xml" Id="R7b10505e6d8246ec" /><Relationship Type="http://schemas.openxmlformats.org/officeDocument/2006/relationships/slide" Target="/ppt/slides/slide1.xml" Id="R689b3c74c3464997" /><Relationship Type="http://schemas.openxmlformats.org/officeDocument/2006/relationships/slide" Target="/ppt/slides/slide2.xml" Id="Rdd9e3fe0455b4fea" /><Relationship Type="http://schemas.openxmlformats.org/officeDocument/2006/relationships/slide" Target="/ppt/slides/slide3.xml" Id="R187f3898cbc44331" /><Relationship Type="http://schemas.openxmlformats.org/officeDocument/2006/relationships/slide" Target="/ppt/slides/slide4.xml" Id="Reecb0349770e4823" /><Relationship Type="http://schemas.openxmlformats.org/officeDocument/2006/relationships/slide" Target="/ppt/slides/slide5.xml" Id="R3d9b07441a424e30" /><Relationship Type="http://schemas.openxmlformats.org/officeDocument/2006/relationships/slide" Target="/ppt/slides/slide6.xml" Id="R717ad82caaac4774" /><Relationship Type="http://schemas.openxmlformats.org/officeDocument/2006/relationships/slide" Target="/ppt/slides/slide7.xml" Id="R23b290a298e44545" /><Relationship Type="http://schemas.openxmlformats.org/officeDocument/2006/relationships/slide" Target="/ppt/slides/slide8.xml" Id="Re966455075f846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1ce8a022d4f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ed2fb68c1441f" /><Relationship Type="http://schemas.openxmlformats.org/officeDocument/2006/relationships/notesMaster" Target="/ppt/notesMasters/notesMaster1.xml" Id="R2dff519c7f544b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a62dd64e724d3b" /><Relationship Type="http://schemas.openxmlformats.org/officeDocument/2006/relationships/notesMaster" Target="/ppt/notesMasters/notesMaster1.xml" Id="R2902177f0061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e1bb591c8a48b7" /><Relationship Type="http://schemas.openxmlformats.org/officeDocument/2006/relationships/notesMaster" Target="/ppt/notesMasters/notesMaster1.xml" Id="R4c1fd442f531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de8ed5d88a40e7" /><Relationship Type="http://schemas.openxmlformats.org/officeDocument/2006/relationships/notesMaster" Target="/ppt/notesMasters/notesMaster1.xml" Id="R1918957f79a2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b3b2cf6dd489c" /><Relationship Type="http://schemas.openxmlformats.org/officeDocument/2006/relationships/notesMaster" Target="/ppt/notesMasters/notesMaster1.xml" Id="R61366932a2a547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e02bfbc5ff474c" /><Relationship Type="http://schemas.openxmlformats.org/officeDocument/2006/relationships/notesMaster" Target="/ppt/notesMasters/notesMaster1.xml" Id="Rc1858129968642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5cfe2fc0a4f23" /><Relationship Type="http://schemas.openxmlformats.org/officeDocument/2006/relationships/notesMaster" Target="/ppt/notesMasters/notesMaster1.xml" Id="R6390ed6a37cd44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6df49548e84293" /><Relationship Type="http://schemas.openxmlformats.org/officeDocument/2006/relationships/notesMaster" Target="/ppt/notesMasters/notesMaster1.xml" Id="Rc14a89d1ab4c4d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Informe Ejecutivo, Operación de Importación México a Nicaragua. Imagen de puerto: MundoMarítimo, https://www.mundomaritimo.cl/noticias/ssa-mexico-moviliza-mas-de-dos-millones-de-contenedores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Ejecutivo, secciones 1 y 2. Imagen de ruta: FWFreight, https://fwfreight.com/freight-shipping/from-mexico-to-nicaragua/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Ejecutivo, sección 3. Imagen de productos: Uber Eats / C &amp; T Food Market, https://www.ubereats.com/ca/store/c-%26-t-food-market/tdPjGuUsT1ymVxWdrecjPw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tabla de categorías del Informe Ejecutivo. Los porcentajes se calcularon sobre los totales de 6,675 unidades y US$40,359.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tabla de categorías del Informe Ejecutivo. Gráfico editable con valores en dólares estadounidenses.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Ejecutivo, sección 3. El porcentaje corresponde a US$8,100 dividido entre US$40,359.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observación de revisión de datos incluida en el Informe Ejecutivo. Imagen de almacén: El Cronista, https://www.cronista.com/transport-cargo/con-alianzas-logisticas-crecen-las-exportaciones/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conclusión del Informe Ejecutivo. Los porcentajes se calcularon a partir de la tabla de categorías.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ab825de6142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6de18618a144be" /><Relationship Type="http://schemas.openxmlformats.org/officeDocument/2006/relationships/slideLayout" Target="/ppt/slideLayouts/slideLayout1.xml" Id="Rc018eeb28e7b42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18eeb28e7b42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201d6026d4429" /><Relationship Type="http://schemas.openxmlformats.org/officeDocument/2006/relationships/image" Target="/ppt/media/image.jpeg" Id="R8275d9ed59b24566" /><Relationship Type="http://schemas.openxmlformats.org/officeDocument/2006/relationships/image" Target="/ppt/media/image.png" Id="R5022ef5ae7224fa0" /><Relationship Type="http://schemas.openxmlformats.org/officeDocument/2006/relationships/notesSlide" Target="/ppt/notesSlides/notesSlide1.xml" Id="R34ada1dc24c6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a5c32eb0489c" /><Relationship Type="http://schemas.openxmlformats.org/officeDocument/2006/relationships/image" Target="/ppt/media/image2.png" Id="R9602e790fce24145" /><Relationship Type="http://schemas.openxmlformats.org/officeDocument/2006/relationships/notesSlide" Target="/ppt/notesSlides/notesSlide2.xml" Id="R49ab35485009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228536794631" /><Relationship Type="http://schemas.openxmlformats.org/officeDocument/2006/relationships/image" Target="/ppt/media/image2.jpeg" Id="R157175652ed64dfe" /><Relationship Type="http://schemas.openxmlformats.org/officeDocument/2006/relationships/notesSlide" Target="/ppt/notesSlides/notesSlide3.xml" Id="R67146a418dd54b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0033122f4b60" /><Relationship Type="http://schemas.openxmlformats.org/officeDocument/2006/relationships/notesSlide" Target="/ppt/notesSlides/notesSlide4.xml" Id="Red46d428256348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cabcafddb4f5a" /><Relationship Type="http://schemas.openxmlformats.org/officeDocument/2006/relationships/chart" Target="/ppt/slides/charts/chart1.xml" Id="Rda38436b5c8147c3" /><Relationship Type="http://schemas.openxmlformats.org/officeDocument/2006/relationships/notesSlide" Target="/ppt/notesSlides/notesSlide5.xml" Id="Rb8460e03bc6641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9bbac60cf40c3" /><Relationship Type="http://schemas.openxmlformats.org/officeDocument/2006/relationships/chart" Target="/ppt/slides/charts/chart2.xml" Id="Rbab6f8fbd738463f" /><Relationship Type="http://schemas.openxmlformats.org/officeDocument/2006/relationships/notesSlide" Target="/ppt/notesSlides/notesSlide6.xml" Id="R5061a2db1aec42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55b0fc5954a74" /><Relationship Type="http://schemas.openxmlformats.org/officeDocument/2006/relationships/image" Target="/ppt/media/image3.jpeg" Id="Rd78b12e4820e4873" /><Relationship Type="http://schemas.openxmlformats.org/officeDocument/2006/relationships/notesSlide" Target="/ppt/notesSlides/notesSlide7.xml" Id="Rfa95ae1796fa43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6dfd5a7d94b6c" /><Relationship Type="http://schemas.openxmlformats.org/officeDocument/2006/relationships/image" Target="/ppt/media/image3.png" Id="R82a702f828db48a9" /><Relationship Type="http://schemas.openxmlformats.org/officeDocument/2006/relationships/notesSlide" Target="/ppt/notesSlides/notesSlide8.xml" Id="R6bd627d2591b4b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 total</c:v>
          </c:tx>
          <c:spPr>
            <a:solidFill xmlns:a="http://schemas.openxmlformats.org/drawingml/2006/main">
              <a:srgbClr val="06A3B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203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A441"/>
              </a:solidFill>
            </c:spPr>
          </c:dPt>
          <c:cat>
            <c:strRef>
              <c:f>'Chart Data'!$A$2:$A$8</c:f>
              <c:strCache>
                <c:ptCount val="7"/>
                <c:pt idx="0">
                  <c:v>Accesorios</c:v>
                </c:pt>
                <c:pt idx="1">
                  <c:v>Alimentos</c:v>
                </c:pt>
                <c:pt idx="2">
                  <c:v>Tecnología</c:v>
                </c:pt>
                <c:pt idx="3">
                  <c:v>Hogar</c:v>
                </c:pt>
                <c:pt idx="4">
                  <c:v>Oficina</c:v>
                </c:pt>
                <c:pt idx="5">
                  <c:v>Limpieza</c:v>
                </c:pt>
                <c:pt idx="6">
                  <c:v>Bebidas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9642</c:v>
                </c:pt>
                <c:pt idx="1">
                  <c:v>9464</c:v>
                </c:pt>
                <c:pt idx="2">
                  <c:v>6403.75</c:v>
                </c:pt>
                <c:pt idx="3">
                  <c:v>4945.5</c:v>
                </c:pt>
                <c:pt idx="4">
                  <c:v>3803.5</c:v>
                </c:pt>
                <c:pt idx="5">
                  <c:v>3438.5</c:v>
                </c:pt>
                <c:pt idx="6">
                  <c:v>2661.75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8313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087F9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A441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Mochilas</c:v>
                </c:pt>
                <c:pt idx="1">
                  <c:v>Bolsos deportivos</c:v>
                </c:pt>
                <c:pt idx="2">
                  <c:v>Audífonos</c:v>
                </c:pt>
                <c:pt idx="3">
                  <c:v>Termos</c:v>
                </c:pt>
                <c:pt idx="4">
                  <c:v>Papel higiénico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1912.5</c:v>
                </c:pt>
                <c:pt idx="1">
                  <c:v>1680</c:v>
                </c:pt>
                <c:pt idx="2">
                  <c:v>1665</c:v>
                </c:pt>
                <c:pt idx="3">
                  <c:v>1592.5</c:v>
                </c:pt>
                <c:pt idx="4">
                  <c:v>1250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8313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0E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0E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5d9ed59b24566"/>
          <a:srcRect xmlns:a="http://schemas.openxmlformats.org/drawingml/2006/main" l="0" t="12469" r="0" b="1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11133-AEB6-4690-B8AC-602857CA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67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5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2ef5ae7224fa0"/>
          <a:stretch xmlns:a="http://schemas.openxmlformats.org/drawingml/2006/main"/>
        </p:blipFill>
        <p:spPr>
          <a:xfrm xmlns:a="http://schemas.openxmlformats.org/drawingml/2006/main">
            <a:off x="705968" y="438150"/>
            <a:ext cx="1026465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F6C07-A913-46F1-90B4-FC60538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D0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71D0D9"/>
                </a:solidFill>
                <a:latin typeface="DejaVu Sans"/>
                <a:ea typeface="DejaVu Sans"/>
                <a:cs typeface="DejaVu Sans"/>
              </a:rPr>
              <a:t>INFORME EJECUTIVO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E4C03-C430-4E17-AC0D-8EE1EE9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048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Importación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México a Nicaragua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D8B71-47C9-4CEA-9718-C480218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3C173-4D3C-4F60-BE86-612BF20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39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96FC3-1A84-425F-AE11-0A09D05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6E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9E6EA"/>
                </a:solidFill>
                <a:latin typeface="DejaVu Sans"/>
                <a:ea typeface="DejaVu Sans"/>
                <a:cs typeface="DejaVu Sans"/>
              </a:rPr>
              <a:t>Alvin Omar Pérez  •  Neil Andres Gradiz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DBFC9-BFE9-467A-94D4-5537B80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C0C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9C0C9"/>
                </a:solidFill>
                <a:latin typeface="DejaVu Sans"/>
                <a:ea typeface="DejaVu Sans"/>
                <a:cs typeface="DejaVu Sans"/>
              </a:rPr>
              <a:t>Universidad Americana</a:t>
            </a:r>
          </a:p>
        </p:txBody>
      </p:sp>
    </p:spTree>
    <p:extLst>
      <p:ext uri="{BB962C8B-B14F-4D97-AF65-F5344CB8AC3E}">
        <p14:creationId xmlns:p14="http://schemas.microsoft.com/office/powerpoint/2010/main" val="1953234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C5149-657B-4D85-A30D-ACD0EA16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DESCRIPCIÓN DE LA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77746-9DCB-48CD-8C59-2DCC607F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Una operación comercial de México a Nicaragua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DBFA0-A859-4B0E-A809-27CC4958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2e790fce24145"/>
          <a:srcRect xmlns:a="http://schemas.openxmlformats.org/drawingml/2006/main" l="3439" t="0" r="3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85925"/>
            <a:ext cx="5429250" cy="3657600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4307B-9D9F-464E-AEB3-7346CE86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EMPRESA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F76B8-2E76-49B6-BC91-9E750C5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CB6C5-DB6D-43F0-AD32-967CD7E1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0BC5D-4F45-4885-99E3-F52A2F3B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TIPO DE OPERACIÓN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86566-E837-441A-ACDA-9FBEA62B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Importación comercial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584EA-02DB-453D-A734-C34F1D5A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61AB6-DDEB-4FB8-B2C1-4DB8D7A9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ORIGEN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1B8CF-9E90-4FE0-A9FE-1F9C6C40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23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México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F53FA-56AD-4C9D-B159-C588EB1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9C8A-DA6D-4546-8B59-4494FC5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DESTINO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C9154-3AA6-4286-B488-9B782381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862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Nicaragua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DFB0A-730A-45F8-B284-284DF52B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F2FD6-8423-4453-9554-2F24FEA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REGISTROS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05BF6-AD54-406B-869E-9358EF70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50 productos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ABD38-13BF-4DB9-BB01-D547370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006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C117C-BD2E-494D-9EF4-EDD4A88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C75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6C75"/>
                </a:solidFill>
                <a:latin typeface="DejaVu Sans"/>
                <a:ea typeface="DejaVu Sans"/>
                <a:cs typeface="DejaVu Sans"/>
              </a:rPr>
              <a:t>La base reúne productos de consumo y uso cotidiano para analizar cantidades, precios unitarios y valores totales.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6FF13-0990-4BB1-B30D-129E85C0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2DBD5-B3DA-497C-825B-DFA3069A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327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F31ED-86A8-40B4-9BDE-397EF04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RESULTADOS PRINCIPALES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C964D-E9AB-4DAF-9B37-8970492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La operación alcanza US$40,359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9B876-EE77-4EC6-82C8-A1A060D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52C3-C751-4098-98D6-DA65FB4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B93F4-C3BA-457C-97E5-7A09417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D3D93-4B8F-4C45-B4D2-8E87703B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C6C75"/>
                </a:solidFill>
                <a:latin typeface="DejaVu Sans"/>
                <a:ea typeface="DejaVu Sans"/>
                <a:cs typeface="DejaVu Sans"/>
              </a:rPr>
              <a:t>productos analizados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6439A-A36B-4CCE-89CD-F9305B1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27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83E5F-8DBE-4421-BF0E-778DFFCA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6,675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E2466-8274-451D-9116-EC4B5DB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C6C75"/>
                </a:solidFill>
                <a:latin typeface="DejaVu Sans"/>
                <a:ea typeface="DejaVu Sans"/>
                <a:cs typeface="DejaVu Sans"/>
              </a:rPr>
              <a:t>unidades importadas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26D7E-B8C4-4590-867A-F5A20170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27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B20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F142B-6E04-48BC-8BBD-8413F1A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US$40,359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DC72-6079-4A65-8A9B-D8DB0C4D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E7E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8E7EB"/>
                </a:solidFill>
                <a:latin typeface="DejaVu Sans"/>
                <a:ea typeface="DejaVu Sans"/>
                <a:cs typeface="DejaVu Sans"/>
              </a:rPr>
              <a:t>valor total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175652ed64dfe"/>
          <a:srcRect xmlns:a="http://schemas.openxmlformats.org/drawingml/2006/main" l="0" t="22278" r="0" b="22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90950"/>
            <a:ext cx="4724400" cy="20955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4A80F-A509-4976-8A6C-D9A231B2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Lectura ejecutiva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7E901-A7F9-480F-991D-48F47FF9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4914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1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313F"/>
                </a:solidFill>
                <a:latin typeface="DejaVu Sans"/>
                <a:ea typeface="DejaVu Sans"/>
                <a:cs typeface="DejaVu Sans"/>
              </a:rPr>
              <a:t>El portafolio combina siete categorías. Accesorios y alimentos concentran casi la mitad del valor, mientras alimentos reúnen la mayor cantidad de unidades.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C20B3-EA22-413E-8FA3-19D1AEF5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9750"/>
            <a:ext cx="4000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5EB1B-DD33-4F26-B132-18258822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48F82-C187-401D-A9A9-4E37AB02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6027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00B78-E1C0-48F5-B80D-C95C7CC8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COMPOSICIÓN DEL PORTAFOLIO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9C54-B4EA-417D-9ABD-D975617E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Siete categorías explican el total importado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E22E5-3A58-4E6F-982F-3DA70ECE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8096250" cy="4057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524000"/>
                <a:gridCol w="1619250"/>
                <a:gridCol w="2381250"/>
              </a:tblGrid>
              <a:tr h="5072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Categoría</a:t>
                      </a:r>
                    </a:p>
                  </a:txBody>
                  <a:tcPr marL="91440" marR="91440" marT="45720" marB="45720">
                    <a:solidFill>
                      <a:srgbClr val="0B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Productos</a:t>
                      </a:r>
                    </a:p>
                  </a:txBody>
                  <a:tcPr marL="91440" marR="91440" marT="45720" marB="45720">
                    <a:solidFill>
                      <a:srgbClr val="0B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0B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 total</a:t>
                      </a:r>
                    </a:p>
                  </a:txBody>
                  <a:tcPr marL="91440" marR="91440" marT="45720" marB="45720">
                    <a:solidFill>
                      <a:srgbClr val="0B2035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US$9,642.00</a:t>
                      </a:r>
                    </a:p>
                  </a:txBody>
                  <a:tcPr marL="91440" marR="91440" marT="45720" marB="45720"/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Alimentos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2,105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US$9,464.00</a:t>
                      </a:r>
                    </a:p>
                  </a:txBody>
                  <a:tcPr marL="91440" marR="91440" marT="45720" marB="45720"/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Bebidas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US$2,661.75</a:t>
                      </a:r>
                    </a:p>
                  </a:txBody>
                  <a:tcPr marL="91440" marR="91440" marT="45720" marB="45720"/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Hogar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US$4,945.50</a:t>
                      </a:r>
                    </a:p>
                  </a:txBody>
                  <a:tcPr marL="91440" marR="91440" marT="45720" marB="45720"/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Limpieza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US$3,438.50</a:t>
                      </a:r>
                    </a:p>
                  </a:txBody>
                  <a:tcPr marL="91440" marR="91440" marT="45720" marB="45720"/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Oficina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US$3,803.50</a:t>
                      </a:r>
                    </a:p>
                  </a:txBody>
                  <a:tcPr marL="91440" marR="91440" marT="45720" marB="45720"/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Tecnología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US$6,403.75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55344-E4EE-4B2F-A252-D13DC34C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76400"/>
            <a:ext cx="2400300" cy="40576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B20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84B4C-58BA-4890-8727-542500C5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47.3%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D7DE9-7CB4-4B17-A6B4-622F70C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BE5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BE5E8"/>
                </a:solidFill>
                <a:latin typeface="DejaVu Sans"/>
                <a:ea typeface="DejaVu Sans"/>
                <a:cs typeface="DejaVu Sans"/>
              </a:rPr>
              <a:t>del valor se concentra en Accesorios y Alimentos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0FB1F-A0C5-4A40-8D51-E149B4A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1257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9B5B2-08D2-480E-8FBD-B5C4FC0F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1480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Alimentos aporta 31.5% de las unidades.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FA1DE-9F14-4150-A3A6-B07D0C3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5F787-E95B-4C1B-B248-04E3E2FA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4504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12019-E0A3-4F8E-9488-CC8D24B7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VALOR POR CATEGORÍA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457C3-60A4-4E40-B7DF-82821522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Accesorios y alimentos lideran el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B2042-503B-42EF-9AC1-5F4FC25E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657350"/>
          <a:ext xmlns:a="http://schemas.openxmlformats.org/drawingml/2006/main" cx="7715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38436b5c8147c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988E-C2E3-4DD5-B611-4DB22E5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52600"/>
            <a:ext cx="2609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2A743-A8E1-4EC8-84DC-0DB26B9B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859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US$19,106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BFF7F-ACC0-45C1-AE44-7C69ECC1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Accesorios + Alimentos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752D-456E-470B-B95A-EEFB093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1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C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6C75"/>
                </a:solidFill>
                <a:latin typeface="DejaVu Sans"/>
                <a:ea typeface="DejaVu Sans"/>
                <a:cs typeface="DejaVu Sans"/>
              </a:rPr>
              <a:t>Son las dos categorías con mayor participación en el valor de compra.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82352-9C99-46CF-ADD1-F6D8CF3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955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313F"/>
                </a:solidFill>
                <a:latin typeface="DejaVu Sans"/>
                <a:ea typeface="DejaVu Sans"/>
                <a:cs typeface="DejaVu Sans"/>
              </a:rPr>
              <a:t>Tecnología ocupa el tercer lugar con US$6,403.75, aunque reúne solo 525 unidades.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9778D-1F2E-46D6-9153-4C05EAEC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B2EED-34A8-4ABF-A6C7-FF6418FD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1428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26E88-DBF9-4603-9680-D8C7AF39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PRODUCTOS DE MAYOR VALOR INDIVIDUAL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9F7D9-F8BF-4538-BC40-158B748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Cinco productos reúnen US$8,100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856B-D681-4536-9765-A4D7C34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7334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b6f8fbd738463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026EC-FE2F-4043-ACFB-3864B61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62125"/>
            <a:ext cx="2990850" cy="3667125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B20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E938-F875-4809-BEE5-50E5ED5D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7D9C-9CDF-4D33-A14A-88E84891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D0D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71D0D9"/>
                </a:solidFill>
                <a:latin typeface="DejaVu Sans"/>
                <a:ea typeface="DejaVu Sans"/>
                <a:cs typeface="DejaVu Sans"/>
              </a:rPr>
              <a:t>del valor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2AB05-8FC5-4AE4-A3F5-FDB3BB78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90900"/>
            <a:ext cx="2228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Mochilas encabeza la lista con 85 unidades y un valor de US$1,912.50.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4737D-9B4A-43E8-B882-CF5AAA2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DD8D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DD8DD"/>
                </a:solidFill>
                <a:latin typeface="DejaVu Sans"/>
                <a:ea typeface="DejaVu Sans"/>
                <a:cs typeface="DejaVu Sans"/>
              </a:rPr>
              <a:t>Los cinco productos suman US$8,100.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44C56-645C-4550-BFCC-CF84F3C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05C9B-DA71-48DD-9041-E0B8ECFC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5893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F5CAF-1943-416F-8D32-3AF48F2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A3B9"/>
                </a:solidFill>
                <a:latin typeface="DejaVu Sans"/>
                <a:ea typeface="DejaVu Sans"/>
                <a:cs typeface="DejaVu Sans"/>
              </a:rPr>
              <a:t>CONTROL DE CALIDAD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51E42-9DE6-4E05-B69C-5D9FD568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La consistencia del país de origen requiere revisión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AE674-B18B-447A-A5AC-B2CC827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b12e4820e4873"/>
          <a:srcRect xmlns:a="http://schemas.openxmlformats.org/drawingml/2006/main" l="3343" t="0" r="3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5219700" cy="3733800"/>
          </a:xfrm>
          <a:prstGeom xmlns:a="http://schemas.openxmlformats.org/drawingml/2006/main" prst="roundRect">
            <a:avLst>
              <a:gd name="adj" fmla="val 459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DE7DE-E6BD-41F9-B5A1-CDDC3A6A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2578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78D66-4825-4157-97E6-D714F43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145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5A4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95A49"/>
                </a:solidFill>
                <a:latin typeface="DejaVu Sans"/>
                <a:ea typeface="DejaVu Sans"/>
                <a:cs typeface="DejaVu Sans"/>
              </a:rPr>
              <a:t>Hallazgo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23655-D1E5-46CE-B03E-9095DA1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72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2035"/>
                </a:solidFill>
                <a:latin typeface="DejaVu Sans"/>
                <a:ea typeface="DejaVu Sans"/>
                <a:cs typeface="DejaVu Sans"/>
              </a:rPr>
              <a:t>Algunos registros no coinciden con México como país de origen.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14B13-90B5-4E62-B935-11033C57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A3B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8A220-1B8A-49F8-A2E6-8184C00A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53301-CE81-4A69-BDF1-BFEA3FF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146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13F"/>
                </a:solidFill>
                <a:latin typeface="DejaVu Sans"/>
                <a:ea typeface="DejaVu Sans"/>
                <a:cs typeface="DejaVu Sans"/>
              </a:rPr>
              <a:t>Identificar los registros con otro país de origen.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9599D-FF07-4F72-A713-8FDE76B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A3B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6F849-840D-4F3F-ABE4-F9BD931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7C5D9-7DB6-45A6-841F-BBBC3737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576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13F"/>
                </a:solidFill>
                <a:latin typeface="DejaVu Sans"/>
                <a:ea typeface="DejaVu Sans"/>
                <a:cs typeface="DejaVu Sans"/>
              </a:rPr>
              <a:t>Confirmar si forman parte de la misma operación.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A419B-EB7C-4F0A-B1B0-C971F133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A3B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3CE40-5BF4-4C27-924F-4CFCE603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CA1D6-314E-49B7-9178-0CAF0795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005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13F"/>
                </a:solidFill>
                <a:latin typeface="DejaVu Sans"/>
                <a:ea typeface="DejaVu Sans"/>
                <a:cs typeface="DejaVu Sans"/>
              </a:rPr>
              <a:t>Corregir el Excel o ajustar el alcance del informe.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B9173-7924-489F-811F-4AF72B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5A0EF-D057-44CB-9F0F-6E31D481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7281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532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0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6C9B2-950C-4349-A6B7-F675F309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D0D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71D0D9"/>
                </a:solidFill>
                <a:latin typeface="DejaVu Sans"/>
                <a:ea typeface="DejaVu Sans"/>
                <a:cs typeface="DejaVu Sans"/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FEE5F-3C27-46D8-BBD9-A8B34663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datos permiten planificar mejor la compra y la logística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C293-EC1A-4CBD-8B8E-436756BC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382250" cy="1009650"/>
          </a:xfrm>
          <a:prstGeom xmlns:a="http://schemas.openxmlformats.org/drawingml/2006/main" prst="roundRect">
            <a:avLst>
              <a:gd name="adj" fmla="val 7547"/>
            </a:avLst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1AE64-7E8C-4058-8996-A6C0C520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A44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A441"/>
                </a:solidFill>
                <a:latin typeface="DejaVu Sans"/>
                <a:ea typeface="DejaVu Sans"/>
                <a:cs typeface="DejaVu Sans"/>
              </a:rPr>
              <a:t>Escala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BB6F5-1462-4330-A5D1-6EF4C4E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50 productos, 6,675 unidades y US$40,359 en valor total.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AB58F-087E-453B-A0AC-0A3ED5E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382250" cy="1009650"/>
          </a:xfrm>
          <a:prstGeom xmlns:a="http://schemas.openxmlformats.org/drawingml/2006/main" prst="roundRect">
            <a:avLst>
              <a:gd name="adj" fmla="val 7547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EBB89-AD9D-4502-8D62-F2206FF1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A44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A441"/>
                </a:solidFill>
                <a:latin typeface="DejaVu Sans"/>
                <a:ea typeface="DejaVu Sans"/>
                <a:cs typeface="DejaVu Sans"/>
              </a:rPr>
              <a:t>Concentración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81196-0C70-4D55-9711-1094A4A8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Accesorios y alimentos explican 47.3% del valor importado.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897DF-34FC-4E5A-A098-E62E93A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382250" cy="1009650"/>
          </a:xfrm>
          <a:prstGeom xmlns:a="http://schemas.openxmlformats.org/drawingml/2006/main" prst="roundRect">
            <a:avLst>
              <a:gd name="adj" fmla="val 7547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B314A-B4E3-495B-8394-1EB86C65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A44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A441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A0804-DBB6-41AE-BC78-3BEEAC1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verificación del origen evita inconsistencias antes de tomar decisiones.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B9BBE-8F95-49EB-B9CE-C90B970D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C5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5CD"/>
                </a:solidFill>
                <a:latin typeface="DejaVu Sans"/>
                <a:ea typeface="DejaVu Sans"/>
                <a:cs typeface="DejaVu Sans"/>
              </a:rPr>
              <a:t>NicaTrade International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702f828db48a9"/>
          <a:stretch xmlns:a="http://schemas.openxmlformats.org/drawingml/2006/main"/>
        </p:blipFill>
        <p:spPr>
          <a:xfrm xmlns:a="http://schemas.openxmlformats.org/drawingml/2006/main">
            <a:off x="10683846" y="5867400"/>
            <a:ext cx="806508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5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2026-09-22T14:10:03.1890000Z</dcterms:created>
  <dcterms:modified xsi:type="dcterms:W3CDTF">2026-09-22T14:10:03.1890000Z</dcterms:modified>
</coreProperties>
</file>